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A7B6B">
              <a:alpha val="20000"/>
            </a:srgbClr>
          </a:solidFill>
          <a:ln w="12700">
            <a:solidFill>
              <a:srgbClr val="0A7B6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2286000" cy="2286000"/>
          </a:xfrm>
          <a:prstGeom prst="ellipse">
            <a:avLst/>
          </a:prstGeom>
          <a:solidFill>
            <a:srgbClr val="E8613A">
              <a:alpha val="16000"/>
            </a:srgbClr>
          </a:solidFill>
          <a:ln w="12700">
            <a:solidFill>
              <a:srgbClr val="E8613A">
                <a:alpha val="1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방과후 AI 교육 프로그램 사업 제안서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학교가 먼저 찾는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방과후 프로그램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EDE6"/>
                </a:solidFill>
              </a:rPr>
              <a:t>코딩 없이 몸으로 느끼는 AI 체험 — 중학생 10차시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547872"/>
            <a:ext cx="2606040" cy="502920"/>
          </a:xfrm>
          <a:prstGeom prst="rect">
            <a:avLst/>
          </a:prstGeom>
          <a:solidFill>
            <a:srgbClr val="E8613A">
              <a:alpha val="75000"/>
            </a:srgbClr>
          </a:solidFill>
          <a:ln w="12700">
            <a:solidFill>
              <a:srgbClr val="E8613A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47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차별화된 체험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547872"/>
            <a:ext cx="2606040" cy="502920"/>
          </a:xfrm>
          <a:prstGeom prst="rect">
            <a:avLst/>
          </a:prstGeom>
          <a:solidFill>
            <a:srgbClr val="0A7B6B">
              <a:alpha val="75000"/>
            </a:srgbClr>
          </a:solidFill>
          <a:ln w="12700">
            <a:solidFill>
              <a:srgbClr val="0A7B6B">
                <a:alpha val="7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547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강사 전문성 불필요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3547872"/>
            <a:ext cx="2606040" cy="502920"/>
          </a:xfrm>
          <a:prstGeom prst="rect">
            <a:avLst/>
          </a:prstGeom>
          <a:solidFill>
            <a:srgbClr val="5B4E8E">
              <a:alpha val="75000"/>
            </a:srgbClr>
          </a:solidFill>
          <a:ln w="12700">
            <a:solidFill>
              <a:srgbClr val="5B4E8E">
                <a:alpha val="7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5478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의존 아닌 판단력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A7B6B">
              <a:alpha val="40000"/>
            </a:srgbClr>
          </a:solidFill>
          <a:ln w="12700">
            <a:solidFill>
              <a:srgbClr val="0A7B6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17720"/>
            <a:ext cx="82296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DE6"/>
                </a:solidFill>
              </a:rPr>
              <a:t>선생님은 편하게  |  아이들은 재밌게  |  학부모는 안심하게  |  학교는 자신있게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왜 지금 AI 방과후인가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7315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61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2025년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2E3A"/>
                </a:solidFill>
              </a:rPr>
              <a:t>교육부 AI 디지털교과서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2E3A"/>
                </a:solidFill>
              </a:rPr>
              <a:t>전국 도입 원년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2423160" cy="658368"/>
          </a:xfrm>
          <a:prstGeom prst="rect">
            <a:avLst/>
          </a:prstGeom>
          <a:solidFill>
            <a:srgbClr val="E8613A">
              <a:alpha val="12000"/>
            </a:srgbClr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8716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73"/>
                </a:solidFill>
              </a:rPr>
              <a:t>초·중·고 76종 AI 교과서 도입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73"/>
                </a:solidFill>
              </a:rPr>
              <a:t>(교육부, 2025)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606040" cy="73152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43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7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소양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2E3A"/>
                </a:solidFill>
              </a:rPr>
              <a:t>2022 개정 교육과정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2E3A"/>
                </a:solidFill>
              </a:rPr>
              <a:t>핵심 역량 명시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2487168"/>
            <a:ext cx="2423160" cy="658368"/>
          </a:xfrm>
          <a:prstGeom prst="rect">
            <a:avLst/>
          </a:prstGeom>
          <a:solidFill>
            <a:srgbClr val="0A7B6B">
              <a:alpha val="12000"/>
            </a:srgbClr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48716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73"/>
                </a:solidFill>
              </a:rPr>
              <a:t>AI 소양·디지털 리터러시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73"/>
                </a:solidFill>
              </a:rPr>
              <a:t>방과후까지 연계 명시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00584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005840"/>
            <a:ext cx="2606040" cy="73152"/>
          </a:xfrm>
          <a:prstGeom prst="rect">
            <a:avLst/>
          </a:prstGeom>
          <a:solidFill>
            <a:srgbClr val="5B4E8E"/>
          </a:solidFill>
          <a:ln w="12700">
            <a:solidFill>
              <a:srgbClr val="5B4E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14300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B4E8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공급 공백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26480" y="178308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2E3A"/>
                </a:solidFill>
              </a:rPr>
              <a:t>체험형 AI 방과후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2E3A"/>
                </a:solidFill>
              </a:rPr>
              <a:t>프로그램 부재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487168"/>
            <a:ext cx="2423160" cy="658368"/>
          </a:xfrm>
          <a:prstGeom prst="rect">
            <a:avLst/>
          </a:prstGeom>
          <a:solidFill>
            <a:srgbClr val="5B4E8E">
              <a:alpha val="12000"/>
            </a:srgbClr>
          </a:solidFill>
          <a:ln w="12700">
            <a:solidFill>
              <a:srgbClr val="E8ED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48716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73"/>
                </a:solidFill>
              </a:rPr>
              <a:t>코딩·로봇 위주 — 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6E73"/>
                </a:solidFill>
              </a:rPr>
              <a:t>몸으로 체험하는 AI는 없음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8412480" cy="146304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493008"/>
            <a:ext cx="73152" cy="1463040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66160"/>
            <a:ext cx="809244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C8EDE6"/>
                </a:solidFill>
              </a:rPr>
              <a:t>지금이 기회입니다
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8EDEE"/>
                </a:solidFill>
              </a:rPr>
              <a:t>교육부가 AI 교육을 공교육 전면에 도입하는 지금, 학교 현장에서 실제 운영 가능한 방과후 AI 체험 프로그램은 아직 없습니다. 코딩·로봇 없이, 전문 강사 없이, QR 하나로 시작하는 체험형 AI 프로그램으로 이 공백을 선점할 수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타 방과후 프로그램 대비 차별점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783080" cy="384048"/>
          </a:xfrm>
          <a:prstGeom prst="rect">
            <a:avLst/>
          </a:prstGeom>
          <a:solidFill>
            <a:srgbClr val="3A5060"/>
          </a:solidFill>
          <a:ln w="12700">
            <a:solidFill>
              <a:srgbClr val="3A5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구분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94560" y="960120"/>
            <a:ext cx="1874520" cy="384048"/>
          </a:xfrm>
          <a:prstGeom prst="rect">
            <a:avLst/>
          </a:prstGeom>
          <a:solidFill>
            <a:srgbClr val="3A5060"/>
          </a:solidFill>
          <a:ln w="12700">
            <a:solidFill>
              <a:srgbClr val="3A5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960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로봇 교육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60520" y="960120"/>
            <a:ext cx="1874520" cy="384048"/>
          </a:xfrm>
          <a:prstGeom prst="rect">
            <a:avLst/>
          </a:prstGeom>
          <a:solidFill>
            <a:srgbClr val="3A5060"/>
          </a:solidFill>
          <a:ln w="12700">
            <a:solidFill>
              <a:srgbClr val="3A5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960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코딩 교육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1554480" cy="384048"/>
          </a:xfrm>
          <a:prstGeom prst="rect">
            <a:avLst/>
          </a:prstGeom>
          <a:solidFill>
            <a:srgbClr val="3A5060"/>
          </a:solidFill>
          <a:ln w="12700">
            <a:solidFill>
              <a:srgbClr val="3A5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ChatGPT 교육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960120"/>
            <a:ext cx="1280160" cy="384048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960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이 프로그램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389888"/>
            <a:ext cx="178308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389888"/>
            <a:ext cx="1673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체험 방식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1389888"/>
            <a:ext cx="187452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9424" y="1389888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키트 조립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60520" y="1389888"/>
            <a:ext cx="187452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1389888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코드 작성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389888"/>
            <a:ext cx="155448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1389888"/>
            <a:ext cx="1444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텍스트 대화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0" y="1389888"/>
            <a:ext cx="1280160" cy="539496"/>
          </a:xfrm>
          <a:prstGeom prst="rect">
            <a:avLst/>
          </a:prstGeom>
          <a:solidFill>
            <a:srgbClr val="E8613A">
              <a:alpha val="80000"/>
            </a:srgbClr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27264" y="1389888"/>
            <a:ext cx="11704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몸으로 직접 체험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1956816"/>
            <a:ext cx="178308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1956816"/>
            <a:ext cx="1673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진입 장벽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94560" y="1956816"/>
            <a:ext cx="187452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9424" y="1956816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키트 구매 비용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1956816"/>
            <a:ext cx="187452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15384" y="1956816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코딩 지식 필요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1956816"/>
            <a:ext cx="155448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1956816"/>
            <a:ext cx="1444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스마트폰 수준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0" y="1956816"/>
            <a:ext cx="1280160" cy="539496"/>
          </a:xfrm>
          <a:prstGeom prst="rect">
            <a:avLst/>
          </a:prstGeom>
          <a:solidFill>
            <a:srgbClr val="E8613A">
              <a:alpha val="80000"/>
            </a:srgbClr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27264" y="1956816"/>
            <a:ext cx="11704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웹캠 하나면 끝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2523744"/>
            <a:ext cx="178308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2523744"/>
            <a:ext cx="1673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강사 조건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94560" y="2523744"/>
            <a:ext cx="187452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9424" y="2523744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로봇 전문가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60520" y="2523744"/>
            <a:ext cx="187452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15384" y="2523744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개발자급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523744"/>
            <a:ext cx="155448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1344" y="2523744"/>
            <a:ext cx="1444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일반 교사 가능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72400" y="2523744"/>
            <a:ext cx="1280160" cy="539496"/>
          </a:xfrm>
          <a:prstGeom prst="rect">
            <a:avLst/>
          </a:prstGeom>
          <a:solidFill>
            <a:srgbClr val="E8613A">
              <a:alpha val="80000"/>
            </a:srgbClr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27264" y="2523744"/>
            <a:ext cx="11704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비전공자도 OK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3090672"/>
            <a:ext cx="178308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3090672"/>
            <a:ext cx="1673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아이 역할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94560" y="3090672"/>
            <a:ext cx="187452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49424" y="3090672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조립·제어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60520" y="3090672"/>
            <a:ext cx="187452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15384" y="3090672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코드 제작자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3090672"/>
            <a:ext cx="155448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81344" y="3090672"/>
            <a:ext cx="1444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질문하는 사람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72400" y="3090672"/>
            <a:ext cx="1280160" cy="539496"/>
          </a:xfrm>
          <a:prstGeom prst="rect">
            <a:avLst/>
          </a:prstGeom>
          <a:solidFill>
            <a:srgbClr val="E8613A">
              <a:alpha val="80000"/>
            </a:srgbClr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27264" y="3090672"/>
            <a:ext cx="11704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탐험·판단·창작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3657600"/>
            <a:ext cx="178308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3657600"/>
            <a:ext cx="1673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윤리 교육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194560" y="3657600"/>
            <a:ext cx="187452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49424" y="3657600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없음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160520" y="3657600"/>
            <a:ext cx="187452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15384" y="3657600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없음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26480" y="3657600"/>
            <a:ext cx="1554480" cy="539496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81344" y="3657600"/>
            <a:ext cx="1444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일부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772400" y="3657600"/>
            <a:ext cx="1280160" cy="539496"/>
          </a:xfrm>
          <a:prstGeom prst="rect">
            <a:avLst/>
          </a:prstGeom>
          <a:solidFill>
            <a:srgbClr val="E8613A">
              <a:alpha val="80000"/>
            </a:srgbClr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27264" y="3657600"/>
            <a:ext cx="11704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핵심 커리큘럼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" y="4224528"/>
            <a:ext cx="178308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" y="4224528"/>
            <a:ext cx="1673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결과물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194560" y="4224528"/>
            <a:ext cx="187452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49424" y="4224528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로봇 작동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160520" y="4224528"/>
            <a:ext cx="187452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15384" y="4224528"/>
            <a:ext cx="1764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코드 파일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126480" y="4224528"/>
            <a:ext cx="1554480" cy="539496"/>
          </a:xfrm>
          <a:prstGeom prst="rect">
            <a:avLst/>
          </a:prstGeom>
          <a:solidFill>
            <a:srgbClr val="162E3C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81344" y="4224528"/>
            <a:ext cx="14447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EDE6"/>
                </a:solidFill>
              </a:rPr>
              <a:t>대화 기록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772400" y="4224528"/>
            <a:ext cx="1280160" cy="539496"/>
          </a:xfrm>
          <a:prstGeom prst="rect">
            <a:avLst/>
          </a:prstGeom>
          <a:solidFill>
            <a:srgbClr val="E8613A">
              <a:alpha val="80000"/>
            </a:srgbClr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27264" y="4224528"/>
            <a:ext cx="117043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포트폴리오 1권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E8613A">
              <a:alpha val="22000"/>
            </a:srgbClr>
          </a:solidFill>
          <a:ln w="12700">
            <a:solidFill>
              <a:srgbClr val="E8613A">
                <a:alpha val="5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613A"/>
                </a:solidFill>
              </a:rPr>
              <a:t>핵심 — 코딩·키트·전문 강사 없이, 웹캠 하나로 AI를 몸으로 체험하며 판단력을 키우는 국내 유일 방과후 프로그램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강사 조건 — AI·코딩 전문가 필요 없습니다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73152" cy="1600200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216152"/>
            <a:ext cx="402336" cy="402336"/>
          </a:xfrm>
          <a:prstGeom prst="ellipse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16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216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E3A"/>
                </a:solidFill>
              </a:rPr>
              <a:t>QR 하나로 시작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160020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수업 준비 = QR 코드 하나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사전 설치·환경 설정 없음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노트북 + 웹캠이 전부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51560"/>
            <a:ext cx="73152" cy="160020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9472" y="1216152"/>
            <a:ext cx="402336" cy="402336"/>
          </a:xfrm>
          <a:prstGeom prst="ellipse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216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13248" y="121615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E3A"/>
                </a:solidFill>
              </a:rPr>
              <a:t>구조화된 수업 스크립트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13248" y="160020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차시별 진행 스크립트 제공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'읽기만 해도 수업 가능'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선생님은 분위기만 잡으면 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34640"/>
            <a:ext cx="73152" cy="1600200"/>
          </a:xfrm>
          <a:prstGeom prst="rect">
            <a:avLst/>
          </a:prstGeom>
          <a:solidFill>
            <a:srgbClr val="5B4E8E"/>
          </a:solidFill>
          <a:ln w="12700">
            <a:solidFill>
              <a:srgbClr val="5B4E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2999232"/>
            <a:ext cx="402336" cy="402336"/>
          </a:xfrm>
          <a:prstGeom prst="ellipse">
            <a:avLst/>
          </a:prstGeom>
          <a:solidFill>
            <a:srgbClr val="5B4E8E"/>
          </a:solidFill>
          <a:ln w="12700">
            <a:solidFill>
              <a:srgbClr val="5B4E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" y="29992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E3A"/>
                </a:solidFill>
              </a:rPr>
              <a:t>아이들이 서로 가르침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33832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체험 수업 특성상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잘하는 아이가 자연스럽게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옆 친구에게 알려줌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8346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34640"/>
            <a:ext cx="73152" cy="1600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2999232"/>
            <a:ext cx="402336" cy="40233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13248" y="29992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E3A"/>
                </a:solidFill>
              </a:rPr>
              <a:t>모든 자료 제공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3248" y="338328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차시별 활동지·기획안 양식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선생님 꿀팁 카드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E73"/>
                </a:solidFill>
              </a:rPr>
              <a:t>포트폴리오 양식 일체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EDE6"/>
                </a:solidFill>
              </a:rPr>
              <a:t>O 방과후 경험 있는 일반 강사라면 누구든 운영 가능 — 별도 AI 교육 이수 불필요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B4E8E"/>
          </a:solidFill>
          <a:ln w="12700">
            <a:solidFill>
              <a:srgbClr val="5B4E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의존성 우려 — 이렇게 접근합니다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31920" cy="347472"/>
          </a:xfrm>
          <a:prstGeom prst="rect">
            <a:avLst/>
          </a:prstGeom>
          <a:solidFill>
            <a:srgbClr val="3A306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5C8"/>
                </a:solidFill>
              </a:rPr>
              <a:t>학부모·학교의 우려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이 프로그램의 접근법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931920" cy="987552"/>
          </a:xfrm>
          <a:prstGeom prst="rect">
            <a:avLst/>
          </a:prstGeom>
          <a:solidFill>
            <a:srgbClr val="1A184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0876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B5C8"/>
                </a:solidFill>
              </a:rPr>
              <a:t>AI만 믿고 스스로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B5C8"/>
                </a:solidFill>
              </a:rPr>
              <a:t>생각 안 하게 될까봐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7B6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114800" cy="987552"/>
          </a:xfrm>
          <a:prstGeom prst="rect">
            <a:avLst/>
          </a:prstGeom>
          <a:solidFill>
            <a:srgbClr val="0A2830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50876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DE6"/>
                </a:solidFill>
              </a:rPr>
              <a:t>1-4차시: AI가 틀리는 순간을 직접 체험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DE6"/>
                </a:solidFill>
              </a:rPr>
              <a:t>'AI도 편향될 수 있다'를 몸으로 느끼게 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3931920" cy="987552"/>
          </a:xfrm>
          <a:prstGeom prst="rect">
            <a:avLst/>
          </a:prstGeom>
          <a:solidFill>
            <a:srgbClr val="1A184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60604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B5C8"/>
                </a:solidFill>
              </a:rPr>
              <a:t>AI가 만든 결과물을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B5C8"/>
                </a:solidFill>
              </a:rPr>
              <a:t>자기 것이라 할까봐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7B6B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709160" y="2514600"/>
            <a:ext cx="4114800" cy="987552"/>
          </a:xfrm>
          <a:prstGeom prst="rect">
            <a:avLst/>
          </a:prstGeom>
          <a:solidFill>
            <a:srgbClr val="0A2830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60604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DE6"/>
                </a:solidFill>
              </a:rPr>
              <a:t>5차시 윤리 선언문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DE6"/>
                </a:solidFill>
              </a:rPr>
              <a:t>'AI가 만든 것을 내 것인 척 않겠다'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DE6"/>
                </a:solidFill>
              </a:rPr>
              <a:t>아이가 직접 원칙을 작성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611880"/>
            <a:ext cx="3931920" cy="987552"/>
          </a:xfrm>
          <a:prstGeom prst="rect">
            <a:avLst/>
          </a:prstGeom>
          <a:solidFill>
            <a:srgbClr val="1A1840"/>
          </a:solidFill>
          <a:ln w="12700">
            <a:solidFill>
              <a:srgbClr val="3A3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0332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B5C8"/>
                </a:solidFill>
              </a:rPr>
              <a:t>AI 없이는 아무것도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B5C8"/>
                </a:solidFill>
              </a:rPr>
              <a:t>못하는 아이가 될까봐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3886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7B6B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709160" y="3611880"/>
            <a:ext cx="4114800" cy="987552"/>
          </a:xfrm>
          <a:prstGeom prst="rect">
            <a:avLst/>
          </a:prstGeom>
          <a:solidFill>
            <a:srgbClr val="0A2830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703320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DE6"/>
                </a:solidFill>
              </a:rPr>
              <a:t>6-9차시: AI는 도구, 문제 발굴·기획·발표는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8EDE6"/>
                </a:solidFill>
              </a:rPr>
              <a:t>아이가 주도 — AI 없어도 작동하는 구조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5B4E8E">
              <a:alpha val="45000"/>
            </a:srgbClr>
          </a:solidFill>
          <a:ln w="12700">
            <a:solidFill>
              <a:srgbClr val="5B4E8E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D5F5"/>
                </a:solidFill>
              </a:rPr>
              <a:t>핵심 철학 — AI에 끌려다니지 않고, AI를 판단하고 활용하는 사람을 키웁니다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10차시 커리큘럼 — 흐름 한눈에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1572768" cy="384048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1차시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" y="1408176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2E3A"/>
                </a:solidFill>
              </a:rPr>
              <a:t>AI야, 내 손 봐봐!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" y="2121408"/>
            <a:ext cx="1426464" cy="347472"/>
          </a:xfrm>
          <a:prstGeom prst="rect">
            <a:avLst/>
          </a:prstGeom>
          <a:solidFill>
            <a:srgbClr val="E8613A">
              <a:alpha val="18000"/>
            </a:srgbClr>
          </a:solidFill>
          <a:ln w="12700">
            <a:solidFill>
              <a:srgbClr val="E8613A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12140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13A"/>
                </a:solidFill>
              </a:rPr>
              <a:t>손 동작 인식 AI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0824" y="987552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0824" y="987552"/>
            <a:ext cx="1572768" cy="384048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0824" y="987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2차시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93976" y="1408176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2E3A"/>
                </a:solidFill>
              </a:rPr>
              <a:t>AI야, 내 표정 맞혀봐!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93976" y="2121408"/>
            <a:ext cx="1426464" cy="347472"/>
          </a:xfrm>
          <a:prstGeom prst="rect">
            <a:avLst/>
          </a:prstGeom>
          <a:solidFill>
            <a:srgbClr val="E8613A">
              <a:alpha val="18000"/>
            </a:srgbClr>
          </a:solidFill>
          <a:ln w="12700">
            <a:solidFill>
              <a:srgbClr val="E8613A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93976" y="212140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13A"/>
                </a:solidFill>
              </a:rPr>
              <a:t>표정 인식 AI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21608" y="987552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21608" y="987552"/>
            <a:ext cx="1572768" cy="384048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21608" y="987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3차시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94760" y="1408176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2E3A"/>
                </a:solidFill>
              </a:rPr>
              <a:t>AI야, 내 몸 따라와!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94760" y="2121408"/>
            <a:ext cx="1426464" cy="347472"/>
          </a:xfrm>
          <a:prstGeom prst="rect">
            <a:avLst/>
          </a:prstGeom>
          <a:solidFill>
            <a:srgbClr val="E8613A">
              <a:alpha val="18000"/>
            </a:srgbClr>
          </a:solidFill>
          <a:ln w="12700">
            <a:solidFill>
              <a:srgbClr val="E8613A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12140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13A"/>
                </a:solidFill>
              </a:rPr>
              <a:t>자세 인식 AI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22392" y="987552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22392" y="987552"/>
            <a:ext cx="1572768" cy="384048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2392" y="987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4차시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95544" y="1408176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2E3A"/>
                </a:solidFill>
              </a:rPr>
              <a:t>AI야, 이게 뭔지 알아?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95544" y="2121408"/>
            <a:ext cx="1426464" cy="347472"/>
          </a:xfrm>
          <a:prstGeom prst="rect">
            <a:avLst/>
          </a:prstGeom>
          <a:solidFill>
            <a:srgbClr val="E8613A">
              <a:alpha val="18000"/>
            </a:srgbClr>
          </a:solidFill>
          <a:ln w="12700">
            <a:solidFill>
              <a:srgbClr val="E8613A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95544" y="212140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13A"/>
                </a:solidFill>
              </a:rPr>
              <a:t>사물 인식 AI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23176" y="987552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23176" y="987552"/>
            <a:ext cx="1572768" cy="384048"/>
          </a:xfrm>
          <a:prstGeom prst="rect">
            <a:avLst/>
          </a:prstGeom>
          <a:solidFill>
            <a:srgbClr val="5B4E8E"/>
          </a:solidFill>
          <a:ln w="12700">
            <a:solidFill>
              <a:srgbClr val="5B4E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23176" y="987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5차시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96328" y="1408176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2E3A"/>
                </a:solidFill>
              </a:rPr>
              <a:t>AI 딜레마 토론 + 윤리 선언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196328" y="2121408"/>
            <a:ext cx="1426464" cy="347472"/>
          </a:xfrm>
          <a:prstGeom prst="rect">
            <a:avLst/>
          </a:prstGeom>
          <a:solidFill>
            <a:srgbClr val="5B4E8E">
              <a:alpha val="18000"/>
            </a:srgbClr>
          </a:solidFill>
          <a:ln w="12700">
            <a:solidFill>
              <a:srgbClr val="5B4E8E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96328" y="212140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4E8E"/>
                </a:solidFill>
              </a:rPr>
              <a:t>1-4차시 총복습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2889504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2889504"/>
            <a:ext cx="1572768" cy="384048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288950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6차시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3192" y="3310128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2E3A"/>
                </a:solidFill>
              </a:rPr>
              <a:t>나라면 이 AI를 어디에 쓸까?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93192" y="4023360"/>
            <a:ext cx="1426464" cy="347472"/>
          </a:xfrm>
          <a:prstGeom prst="rect">
            <a:avLst/>
          </a:prstGeom>
          <a:solidFill>
            <a:srgbClr val="0A7B6B">
              <a:alpha val="18000"/>
            </a:srgbClr>
          </a:solidFill>
          <a:ln w="12700">
            <a:solidFill>
              <a:srgbClr val="0A7B6B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40233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7B6B"/>
                </a:solidFill>
              </a:rPr>
              <a:t>자유 체험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20824" y="2889504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020824" y="2889504"/>
            <a:ext cx="1572768" cy="384048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0824" y="288950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7차시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093976" y="3310128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2E3A"/>
                </a:solidFill>
              </a:rPr>
              <a:t>우리 팀 AI 프로젝트 기획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093976" y="4023360"/>
            <a:ext cx="1426464" cy="347472"/>
          </a:xfrm>
          <a:prstGeom prst="rect">
            <a:avLst/>
          </a:prstGeom>
          <a:solidFill>
            <a:srgbClr val="0A7B6B">
              <a:alpha val="18000"/>
            </a:srgbClr>
          </a:solidFill>
          <a:ln w="12700">
            <a:solidFill>
              <a:srgbClr val="0A7B6B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93976" y="40233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7B6B"/>
                </a:solidFill>
              </a:rPr>
              <a:t>팀 기획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21608" y="2889504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721608" y="2889504"/>
            <a:ext cx="15727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21608" y="288950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8차시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794760" y="3310128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2E3A"/>
                </a:solidFill>
              </a:rPr>
              <a:t>만들어보자! (제작 1)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794760" y="4023360"/>
            <a:ext cx="1426464" cy="347472"/>
          </a:xfrm>
          <a:prstGeom prst="rect">
            <a:avLst/>
          </a:prstGeom>
          <a:solidFill>
            <a:srgbClr val="D4A843">
              <a:alpha val="18000"/>
            </a:srgbClr>
          </a:solidFill>
          <a:ln w="1270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94760" y="40233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</a:rPr>
              <a:t>Gamma·Canva·CapCut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422392" y="2889504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22392" y="2889504"/>
            <a:ext cx="1572768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22392" y="288950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9차시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95544" y="3310128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2E3A"/>
                </a:solidFill>
              </a:rPr>
              <a:t>다듬어보자! (제작 2)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495544" y="4023360"/>
            <a:ext cx="1426464" cy="347472"/>
          </a:xfrm>
          <a:prstGeom prst="rect">
            <a:avLst/>
          </a:prstGeom>
          <a:solidFill>
            <a:srgbClr val="D4A843">
              <a:alpha val="18000"/>
            </a:srgbClr>
          </a:solidFill>
          <a:ln w="1270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95544" y="40233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</a:rPr>
              <a:t>팀별 선택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123176" y="2889504"/>
            <a:ext cx="157276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7123176" y="2889504"/>
            <a:ext cx="1572768" cy="384048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23176" y="2889504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10차시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196328" y="3310128"/>
            <a:ext cx="14264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D2E3A"/>
                </a:solidFill>
              </a:rPr>
              <a:t>나의 생각 발표회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196328" y="4023360"/>
            <a:ext cx="1426464" cy="347472"/>
          </a:xfrm>
          <a:prstGeom prst="rect">
            <a:avLst/>
          </a:prstGeom>
          <a:solidFill>
            <a:srgbClr val="0D9E8A">
              <a:alpha val="18000"/>
            </a:srgbClr>
          </a:solidFill>
          <a:ln w="12700">
            <a:solidFill>
              <a:srgbClr val="0D9E8A">
                <a:alpha val="4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96328" y="402336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E8A"/>
                </a:solidFill>
              </a:rPr>
              <a:t>전 과정 총결산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1–5차시 상세 — 체험과 윤리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72768" cy="397764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1572768" cy="34747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1차시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37160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AI야, 내 손 봐봐!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" y="201168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손 관절 21개 실시간 추적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물건 잡아 바구니 던져넣기 게임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30초 타이머·점수 경쟁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3192" y="3730752"/>
            <a:ext cx="1426464" cy="502920"/>
          </a:xfrm>
          <a:prstGeom prst="rect">
            <a:avLst/>
          </a:prstGeom>
          <a:solidFill>
            <a:srgbClr val="E8613A">
              <a:alpha val="22000"/>
            </a:srgbClr>
          </a:solidFill>
          <a:ln w="12700">
            <a:solidFill>
              <a:srgbClr val="E8613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37307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613A"/>
                </a:solidFill>
              </a:rPr>
              <a:t>결과물: 체험 기록지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0824" y="960120"/>
            <a:ext cx="1572768" cy="397764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0824" y="960120"/>
            <a:ext cx="1572768" cy="34747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0824" y="960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2차시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93976" y="137160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AI야, 내 표정 맞혀봐!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93976" y="201168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표정으로 캐릭터 감정 바꾸기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AI 오인식 사례 수집 미션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'AI가 왜 틀렸을까?' 토론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93976" y="3730752"/>
            <a:ext cx="1426464" cy="502920"/>
          </a:xfrm>
          <a:prstGeom prst="rect">
            <a:avLst/>
          </a:prstGeom>
          <a:solidFill>
            <a:srgbClr val="E8613A">
              <a:alpha val="22000"/>
            </a:srgbClr>
          </a:solidFill>
          <a:ln w="12700">
            <a:solidFill>
              <a:srgbClr val="E8613A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93976" y="37307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613A"/>
                </a:solidFill>
              </a:rPr>
              <a:t>결과물: 오인식 컬렉션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21608" y="960120"/>
            <a:ext cx="1572768" cy="397764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1608" y="960120"/>
            <a:ext cx="1572768" cy="34747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960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3차시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137160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AI야, 내 몸 따라와!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94760" y="201168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OX 퀴즈 — 몸으로 답하기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팀 대결 (5문제)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AI가 못 인식하는 동작 찾기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94760" y="3730752"/>
            <a:ext cx="1426464" cy="502920"/>
          </a:xfrm>
          <a:prstGeom prst="rect">
            <a:avLst/>
          </a:prstGeom>
          <a:solidFill>
            <a:srgbClr val="E8613A">
              <a:alpha val="22000"/>
            </a:srgbClr>
          </a:solidFill>
          <a:ln w="12700">
            <a:solidFill>
              <a:srgbClr val="E8613A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37307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613A"/>
                </a:solidFill>
              </a:rPr>
              <a:t>결과물: 동작 실험 기록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22392" y="960120"/>
            <a:ext cx="1572768" cy="397764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960120"/>
            <a:ext cx="1572768" cy="347472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2392" y="960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4차시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95544" y="137160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AI야, 이게 뭔지 알아?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95544" y="201168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교실 사물 스캔 탐험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오인식 베스트 3 팀 대결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'이 기술 어디에 쓸까?' 토론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95544" y="3730752"/>
            <a:ext cx="1426464" cy="502920"/>
          </a:xfrm>
          <a:prstGeom prst="rect">
            <a:avLst/>
          </a:prstGeom>
          <a:solidFill>
            <a:srgbClr val="E8613A">
              <a:alpha val="22000"/>
            </a:srgbClr>
          </a:solidFill>
          <a:ln w="12700">
            <a:solidFill>
              <a:srgbClr val="E8613A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37307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613A"/>
                </a:solidFill>
              </a:rPr>
              <a:t>결과물: 오인식 베스트 컬렉션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23176" y="960120"/>
            <a:ext cx="1572768" cy="397764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23176" y="960120"/>
            <a:ext cx="1572768" cy="347472"/>
          </a:xfrm>
          <a:prstGeom prst="rect">
            <a:avLst/>
          </a:prstGeom>
          <a:solidFill>
            <a:srgbClr val="5B4E8E"/>
          </a:solidFill>
          <a:ln w="12700">
            <a:solidFill>
              <a:srgbClr val="5B4E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23176" y="960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5차시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96328" y="137160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AI 딜레마 + 윤리 선언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96328" y="201168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자율주행·이루다·채용AI 딜레마 토론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전문가(호킹·유네스코) 한마디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나만의 AI 원칙 5가지 직접 작성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96328" y="3730752"/>
            <a:ext cx="1426464" cy="502920"/>
          </a:xfrm>
          <a:prstGeom prst="rect">
            <a:avLst/>
          </a:prstGeom>
          <a:solidFill>
            <a:srgbClr val="5B4E8E">
              <a:alpha val="22000"/>
            </a:srgbClr>
          </a:solidFill>
          <a:ln w="12700">
            <a:solidFill>
              <a:srgbClr val="5B4E8E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96328" y="37307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4E8E"/>
                </a:solidFill>
              </a:rPr>
              <a:t>결과물: AI 윤리 선언문 (학교 전시 가능)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6–10차시 상세 — 기획·제작·발표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72768" cy="397764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1572768" cy="347472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6차시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37160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나라면 어디에 쓸까?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" y="201168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체험 도구 재탐험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'황당하지만 재밌는 아이디어'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팀별 아이디어 발표 대결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3192" y="3730752"/>
            <a:ext cx="1426464" cy="502920"/>
          </a:xfrm>
          <a:prstGeom prst="rect">
            <a:avLst/>
          </a:prstGeom>
          <a:solidFill>
            <a:srgbClr val="0A7B6B">
              <a:alpha val="22000"/>
            </a:srgbClr>
          </a:solidFill>
          <a:ln w="12700">
            <a:solidFill>
              <a:srgbClr val="0A7B6B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37307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7B6B"/>
                </a:solidFill>
              </a:rPr>
              <a:t>결과물: AI 활용 아이디어 카드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0824" y="960120"/>
            <a:ext cx="1572768" cy="397764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0824" y="960120"/>
            <a:ext cx="1572768" cy="347472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0824" y="960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7차시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93976" y="137160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우리 팀 AI 기획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93976" y="201168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팀 구성 (3-4명)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기획안 작성 (문제·AI활용·결과물)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팀별 1분 발표 + 피드백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93976" y="3730752"/>
            <a:ext cx="1426464" cy="502920"/>
          </a:xfrm>
          <a:prstGeom prst="rect">
            <a:avLst/>
          </a:prstGeom>
          <a:solidFill>
            <a:srgbClr val="0A7B6B">
              <a:alpha val="22000"/>
            </a:srgbClr>
          </a:solidFill>
          <a:ln w="12700">
            <a:solidFill>
              <a:srgbClr val="0A7B6B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93976" y="37307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A7B6B"/>
                </a:solidFill>
              </a:rPr>
              <a:t>결과물: 프로젝트 기획안 A4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21608" y="960120"/>
            <a:ext cx="1572768" cy="397764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1608" y="960120"/>
            <a:ext cx="1572768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960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8차시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137160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만들어보자!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94760" y="201168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Gamma로 발표자료 (3분 완성)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Canva로 포스터 (5분 완성)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CapCut으로 영상 (AI 자막 자동)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94760" y="3730752"/>
            <a:ext cx="1426464" cy="502920"/>
          </a:xfrm>
          <a:prstGeom prst="rect">
            <a:avLst/>
          </a:prstGeom>
          <a:solidFill>
            <a:srgbClr val="D4A843">
              <a:alpha val="22000"/>
            </a:srgbClr>
          </a:solidFill>
          <a:ln w="12700">
            <a:solidFill>
              <a:srgbClr val="D4A843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37307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4A843"/>
                </a:solidFill>
              </a:rPr>
              <a:t>결과물: 결과물 초안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22392" y="960120"/>
            <a:ext cx="1572768" cy="397764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2392" y="960120"/>
            <a:ext cx="1572768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22392" y="960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9차시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95544" y="137160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다듬어보자!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95544" y="201168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결과물 완성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팀별 리허설 발표 (2분)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발표 자료 점검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95544" y="3730752"/>
            <a:ext cx="1426464" cy="502920"/>
          </a:xfrm>
          <a:prstGeom prst="rect">
            <a:avLst/>
          </a:prstGeom>
          <a:solidFill>
            <a:srgbClr val="D4A843">
              <a:alpha val="22000"/>
            </a:srgbClr>
          </a:solidFill>
          <a:ln w="12700">
            <a:solidFill>
              <a:srgbClr val="D4A843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37307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4A843"/>
                </a:solidFill>
              </a:rPr>
              <a:t>결과물: 완성 결과물 + 발표 자료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23176" y="960120"/>
            <a:ext cx="1572768" cy="397764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23176" y="960120"/>
            <a:ext cx="1572768" cy="347472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23176" y="9601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10차시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96328" y="137160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나의 생각 발표회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96328" y="2011680"/>
            <a:ext cx="142646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팀별 발표 (3-4분)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상호 피드백 + 투표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8EDE6"/>
                </a:solidFill>
              </a:rPr>
              <a:t>포트폴리오 완성본 배부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96328" y="3730752"/>
            <a:ext cx="1426464" cy="502920"/>
          </a:xfrm>
          <a:prstGeom prst="rect">
            <a:avLst/>
          </a:prstGeom>
          <a:solidFill>
            <a:srgbClr val="0D9E8A">
              <a:alpha val="22000"/>
            </a:srgbClr>
          </a:solidFill>
          <a:ln w="12700">
            <a:solidFill>
              <a:srgbClr val="0D9E8A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96328" y="37307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D9E8A"/>
                </a:solidFill>
              </a:rPr>
              <a:t>결과물: 포트폴리오 1권 (학부모 전달)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학교 납품 전략 — 첫 학교에서 확산으로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743200" cy="475488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058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1  파일럿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1개 학교 중학생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" y="1627632"/>
            <a:ext cx="128016" cy="128016"/>
          </a:xfrm>
          <a:prstGeom prst="ellipse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72768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2E3A"/>
                </a:solidFill>
              </a:rPr>
              <a:t>10차시 운영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2157984"/>
            <a:ext cx="128016" cy="128016"/>
          </a:xfrm>
          <a:prstGeom prst="ellipse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103120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2E3A"/>
                </a:solidFill>
              </a:rPr>
              <a:t>포트폴리오 확보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2688336"/>
            <a:ext cx="128016" cy="128016"/>
          </a:xfrm>
          <a:prstGeom prst="ellipse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33472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2E3A"/>
                </a:solidFill>
              </a:rPr>
              <a:t>학생·학부모 후기 수집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00584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005840"/>
            <a:ext cx="2743200" cy="475488"/>
          </a:xfrm>
          <a:prstGeom prst="rect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0058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2  확산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126187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3-5개 학교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56432" y="1627632"/>
            <a:ext cx="128016" cy="128016"/>
          </a:xfrm>
          <a:prstGeom prst="ellips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1572768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2E3A"/>
                </a:solidFill>
              </a:rPr>
              <a:t>파일럿 사례로 학교 설득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56432" y="2157984"/>
            <a:ext cx="128016" cy="128016"/>
          </a:xfrm>
          <a:prstGeom prst="ellips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103120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2E3A"/>
                </a:solidFill>
              </a:rPr>
              <a:t>초등 고학년 트랙 추가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56432" y="2688336"/>
            <a:ext cx="128016" cy="128016"/>
          </a:xfrm>
          <a:prstGeom prst="ellipse">
            <a:avLst/>
          </a:prstGeom>
          <a:solidFill>
            <a:srgbClr val="0D9E8A"/>
          </a:solidFill>
          <a:ln w="12700">
            <a:solidFill>
              <a:srgbClr val="0D9E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633472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2E3A"/>
                </a:solidFill>
              </a:rPr>
              <a:t>교육청 방향 연계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00584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005840"/>
            <a:ext cx="2743200" cy="47548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100584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 3  플랫폼화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27648" y="126187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학교가 찾아오는 구조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82512" y="1627632"/>
            <a:ext cx="128016" cy="12801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1572768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2E3A"/>
                </a:solidFill>
              </a:rPr>
              <a:t>학년별 콘텐츠 확장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82512" y="2157984"/>
            <a:ext cx="128016" cy="12801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2103120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2E3A"/>
                </a:solidFill>
              </a:rPr>
              <a:t>신기술 지속 연동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82512" y="2688336"/>
            <a:ext cx="128016" cy="128016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2633472"/>
            <a:ext cx="2212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D2E3A"/>
                </a:solidFill>
              </a:rPr>
              <a:t>학교 직접 신청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45536" y="2633472"/>
            <a:ext cx="146304" cy="0"/>
          </a:xfrm>
          <a:prstGeom prst="line">
            <a:avLst/>
          </a:prstGeom>
          <a:noFill/>
          <a:ln w="19050">
            <a:solidFill>
              <a:srgbClr val="5A6E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63824" y="2542032"/>
            <a:ext cx="128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3"/>
                </a:solidFill>
              </a:rPr>
              <a:t>&gt;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71616" y="2633472"/>
            <a:ext cx="146304" cy="0"/>
          </a:xfrm>
          <a:prstGeom prst="line">
            <a:avLst/>
          </a:prstGeom>
          <a:noFill/>
          <a:ln w="19050">
            <a:solidFill>
              <a:srgbClr val="5A6E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9904" y="2542032"/>
            <a:ext cx="128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E73"/>
                </a:solidFill>
              </a:rPr>
              <a:t>&gt;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4407408"/>
            <a:ext cx="8412480" cy="594360"/>
          </a:xfrm>
          <a:prstGeom prst="rect">
            <a:avLst/>
          </a:prstGeom>
          <a:solidFill>
            <a:srgbClr val="0D2E3A"/>
          </a:solidFill>
          <a:ln w="12700">
            <a:solidFill>
              <a:srgbClr val="0D2E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407408"/>
            <a:ext cx="73152" cy="594360"/>
          </a:xfrm>
          <a:prstGeom prst="rect">
            <a:avLst/>
          </a:prstGeom>
          <a:solidFill>
            <a:srgbClr val="0A7B6B"/>
          </a:solidFill>
          <a:ln w="12700">
            <a:solidFill>
              <a:srgbClr val="0A7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40740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DE6"/>
                </a:solidFill>
              </a:rPr>
              <a:t>핵심 전략 — 첫 학교 1곳의 포트폴리오와 학부모 후기가 다음 학교를 설득하는 가장 강력한 무기입니다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A7B6B">
              <a:alpha val="18000"/>
            </a:srgbClr>
          </a:solidFill>
          <a:ln w="12700">
            <a:solidFill>
              <a:srgbClr val="0A7B6B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2560320" cy="2560320"/>
          </a:xfrm>
          <a:prstGeom prst="ellipse">
            <a:avLst/>
          </a:prstGeom>
          <a:solidFill>
            <a:srgbClr val="E8613A">
              <a:alpha val="16000"/>
            </a:srgbClr>
          </a:solidFill>
          <a:ln w="12700">
            <a:solidFill>
              <a:srgbClr val="E8613A">
                <a:alpha val="1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 함께 시작합니다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DE6"/>
                </a:solidFill>
              </a:rPr>
              <a:t>파일럿 1곳에서 시작해, 학교가 먼저 찾는 AI 방과후 프로그램으로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6858000" cy="45720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945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  강사 조건: 방과후 경험 있는 일반 강사면 충분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6858000" cy="45720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2491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  준비물: 노트북 + 웹캠 — 사전 준비 0분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55264"/>
            <a:ext cx="6858000" cy="45720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5526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  결과물: 아이 1인당 포트폴리오 1권 완성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85616"/>
            <a:ext cx="6858000" cy="457200"/>
          </a:xfrm>
          <a:prstGeom prst="rect">
            <a:avLst/>
          </a:prstGeom>
          <a:solidFill>
            <a:srgbClr val="1A3848"/>
          </a:solidFill>
          <a:ln w="12700">
            <a:solidFill>
              <a:srgbClr val="2A4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8561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  차별점: 국내 유일 체험형 AI 방과후 프로그램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E8613A"/>
          </a:solidFill>
          <a:ln w="12700">
            <a:solidFill>
              <a:srgbClr val="E861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526280"/>
            <a:ext cx="8229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아이가 주인공인 AI 교육 — 능동적 미래 인재를 키우는 첫걸음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방과후 AI 교육 프로그램 사업 제안서</dc:title>
  <dc:subject>PptxGenJS Presentation</dc:subject>
  <dc:creator>PptxGenJS</dc:creator>
  <cp:lastModifiedBy>PptxGenJS</cp:lastModifiedBy>
  <cp:revision>1</cp:revision>
  <dcterms:created xsi:type="dcterms:W3CDTF">2026-03-20T03:48:00Z</dcterms:created>
  <dcterms:modified xsi:type="dcterms:W3CDTF">2026-03-20T03:48:00Z</dcterms:modified>
</cp:coreProperties>
</file>